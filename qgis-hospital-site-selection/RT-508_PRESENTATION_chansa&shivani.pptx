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6" r:id="rId2"/>
    <p:sldId id="266" r:id="rId3"/>
    <p:sldId id="267" r:id="rId4"/>
    <p:sldId id="269" r:id="rId5"/>
    <p:sldId id="278" r:id="rId6"/>
    <p:sldId id="256" r:id="rId7"/>
    <p:sldId id="257" r:id="rId8"/>
    <p:sldId id="258" r:id="rId9"/>
    <p:sldId id="270" r:id="rId10"/>
    <p:sldId id="259" r:id="rId11"/>
    <p:sldId id="260" r:id="rId12"/>
    <p:sldId id="271" r:id="rId13"/>
    <p:sldId id="262" r:id="rId14"/>
    <p:sldId id="263" r:id="rId15"/>
    <p:sldId id="274" r:id="rId16"/>
    <p:sldId id="277" r:id="rId17"/>
    <p:sldId id="272" r:id="rId18"/>
    <p:sldId id="265" r:id="rId19"/>
    <p:sldId id="273" r:id="rId20"/>
    <p:sldId id="275" r:id="rId21"/>
  </p:sldIdLst>
  <p:sldSz cx="14630400" cy="8229600"/>
  <p:notesSz cx="8229600" cy="14630400"/>
  <p:embeddedFontLst>
    <p:embeddedFont>
      <p:font typeface="Algerian" panose="04020705040A02060702" pitchFamily="82" charset="0"/>
      <p:regular r:id="rId24"/>
    </p:embeddedFont>
    <p:embeddedFont>
      <p:font typeface="Sora Light" panose="020B0604020202020204" charset="0"/>
      <p:regular r:id="rId25"/>
    </p:embeddedFont>
    <p:embeddedFont>
      <p:font typeface="Sora Semi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F7D9"/>
    <a:srgbClr val="B856DE"/>
    <a:srgbClr val="BDE3A1"/>
    <a:srgbClr val="E2F3D5"/>
    <a:srgbClr val="F1D2D1"/>
    <a:srgbClr val="DBF1FA"/>
    <a:srgbClr val="EAECBC"/>
    <a:srgbClr val="D0FDCD"/>
    <a:srgbClr val="F2E7F9"/>
    <a:srgbClr val="CFA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3C50FE-FF28-5726-4DAB-0209DCA1EA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08742-7F21-F721-9A90-24A7F2076B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C1FD8-79CE-43E7-92EC-8377262EB21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C554AF-2AA7-2AB1-86F3-C434032E55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93D0E-565E-128B-DE9C-9C18C4EBDD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85449-B6F3-4738-9491-ED1DBF1D9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87379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1104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A101-57FB-C8E1-4481-96D4CCF82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3157F-4354-B996-4164-63556D91D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9BCE0-50B1-2F4C-9477-00D22386D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3EEDE-F05D-2378-E409-1D734DF62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3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90EBE-48A4-BAE1-310E-4140F82C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C7669-EEEB-ACE0-616B-B28BB58B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5E4CF-CD8D-22B5-2145-57EA3DDD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8933-BF62-4123-ABE7-724CFF875E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02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29CB12-C567-4CD2-B26D-D33145F4D9F0}"/>
              </a:ext>
            </a:extLst>
          </p:cNvPr>
          <p:cNvSpPr/>
          <p:nvPr/>
        </p:nvSpPr>
        <p:spPr>
          <a:xfrm>
            <a:off x="0" y="-16525"/>
            <a:ext cx="14630400" cy="8229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93805">
                <a:schemeClr val="bg1">
                  <a:lumMod val="95000"/>
                </a:schemeClr>
              </a:gs>
              <a:gs pos="44000">
                <a:schemeClr val="accent6">
                  <a:lumMod val="40000"/>
                  <a:lumOff val="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303638" y="605982"/>
            <a:ext cx="7595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RT-508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TECHNOLOGY IN AGRO AND RURAL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607" y="6409564"/>
            <a:ext cx="4869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CHANSA RAINGAM (254154003)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SHIVANI AGRAWAL (254154007)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Agro and Rural Technology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Technology Guwahati (781039)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891099-891B-4226-8207-B0B1ADD15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00" t="16507" r="12267" b="9759"/>
          <a:stretch/>
        </p:blipFill>
        <p:spPr>
          <a:xfrm>
            <a:off x="1266940" y="2358864"/>
            <a:ext cx="3007605" cy="2298062"/>
          </a:xfrm>
          <a:prstGeom prst="flowChartOnlineStorag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1A2D9E-F013-43C3-B91C-71BBE41B1DDB}"/>
              </a:ext>
            </a:extLst>
          </p:cNvPr>
          <p:cNvSpPr txBox="1"/>
          <p:nvPr/>
        </p:nvSpPr>
        <p:spPr>
          <a:xfrm>
            <a:off x="3303638" y="2596959"/>
            <a:ext cx="8611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PROJECT: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 Panchayat level utility assessment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(Spatial Assessment)</a:t>
            </a: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33E98E-E170-6A54-BB61-57F1063D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25"/>
            <a:ext cx="4538949" cy="86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48456-BAB0-D80D-36AB-198858485EA4}"/>
              </a:ext>
            </a:extLst>
          </p:cNvPr>
          <p:cNvSpPr/>
          <p:nvPr/>
        </p:nvSpPr>
        <p:spPr>
          <a:xfrm>
            <a:off x="0" y="215066"/>
            <a:ext cx="14630400" cy="822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342102" y="1091381"/>
            <a:ext cx="6666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135" y="2684206"/>
            <a:ext cx="1026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6195" y="2684206"/>
            <a:ext cx="6843250" cy="3985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Saraighat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GP is located under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Bezera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block in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Kamrup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district of Assam State, India.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Saraighat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GP consists of three villages 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Changsari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Balaibeel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Jalah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total area is spread over 12.13 sq. km.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Geographical extent of latitude is 26°13’ N – 26°17’N &amp; longitude is 91°40’ E – 91°44’ </a:t>
            </a:r>
            <a:r>
              <a:rPr lang="pt-BR" sz="2800" dirty="0">
                <a:latin typeface="Times New Roman" pitchFamily="18" charset="0"/>
                <a:cs typeface="Times New Roman" pitchFamily="18" charset="0"/>
              </a:rPr>
              <a:t>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FD59F-4D2D-EA43-4FDF-342B4F7F0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794" y="1922378"/>
            <a:ext cx="7626606" cy="53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08231-0B7F-537E-26DD-F1D5E08C8A9E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DD865-4512-089C-C9BD-289C32593B6E}"/>
              </a:ext>
            </a:extLst>
          </p:cNvPr>
          <p:cNvSpPr txBox="1"/>
          <p:nvPr/>
        </p:nvSpPr>
        <p:spPr>
          <a:xfrm>
            <a:off x="3981691" y="1168833"/>
            <a:ext cx="6817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Partial Circle 5">
            <a:extLst>
              <a:ext uri="{FF2B5EF4-FFF2-40B4-BE49-F238E27FC236}">
                <a16:creationId xmlns:a16="http://schemas.microsoft.com/office/drawing/2014/main" id="{13C58FDE-6ED1-8D69-5717-9EECEE0B1329}"/>
              </a:ext>
            </a:extLst>
          </p:cNvPr>
          <p:cNvSpPr/>
          <p:nvPr/>
        </p:nvSpPr>
        <p:spPr>
          <a:xfrm flipH="1">
            <a:off x="6852210" y="1630498"/>
            <a:ext cx="5359081" cy="5337461"/>
          </a:xfrm>
          <a:prstGeom prst="pie">
            <a:avLst/>
          </a:prstGeom>
          <a:solidFill>
            <a:srgbClr val="CFA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C9D7A-FF90-78B0-1A99-8FEDBF30572A}"/>
              </a:ext>
            </a:extLst>
          </p:cNvPr>
          <p:cNvSpPr txBox="1"/>
          <p:nvPr/>
        </p:nvSpPr>
        <p:spPr>
          <a:xfrm>
            <a:off x="3605514" y="2300748"/>
            <a:ext cx="5798916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To identify the most suitable location for proposing a new hospital site within the Saraighat Gram Panchayat, Assam, using spatial analysis techniques in QGIS</a:t>
            </a:r>
          </a:p>
        </p:txBody>
      </p:sp>
      <p:pic>
        <p:nvPicPr>
          <p:cNvPr id="7" name="Graphic 6" descr="Paperclip">
            <a:extLst>
              <a:ext uri="{FF2B5EF4-FFF2-40B4-BE49-F238E27FC236}">
                <a16:creationId xmlns:a16="http://schemas.microsoft.com/office/drawing/2014/main" id="{07FF8E8C-3ACC-49DE-8872-1FA84DF98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39381">
            <a:off x="3389746" y="11732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787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F28CCE-D5A4-1092-DEC8-7C9DDBE62407}"/>
              </a:ext>
            </a:extLst>
          </p:cNvPr>
          <p:cNvSpPr/>
          <p:nvPr/>
        </p:nvSpPr>
        <p:spPr>
          <a:xfrm>
            <a:off x="0" y="5161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AB15F9-146E-A2E7-991D-1FFC5A972A1F}"/>
              </a:ext>
            </a:extLst>
          </p:cNvPr>
          <p:cNvGrpSpPr/>
          <p:nvPr/>
        </p:nvGrpSpPr>
        <p:grpSpPr>
          <a:xfrm>
            <a:off x="206477" y="3059236"/>
            <a:ext cx="3642042" cy="3894223"/>
            <a:chOff x="1277647" y="2989788"/>
            <a:chExt cx="5903088" cy="312516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9A43EC4-5362-0220-6FB0-0D744B5A7FC9}"/>
                </a:ext>
              </a:extLst>
            </p:cNvPr>
            <p:cNvSpPr/>
            <p:nvPr/>
          </p:nvSpPr>
          <p:spPr>
            <a:xfrm>
              <a:off x="1277647" y="2989788"/>
              <a:ext cx="5903088" cy="3125165"/>
            </a:xfrm>
            <a:prstGeom prst="roundRect">
              <a:avLst>
                <a:gd name="adj" fmla="val 2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4894FA0-6F04-8A94-4951-2F7B5E2C6E47}"/>
                </a:ext>
              </a:extLst>
            </p:cNvPr>
            <p:cNvSpPr txBox="1"/>
            <p:nvPr/>
          </p:nvSpPr>
          <p:spPr>
            <a:xfrm>
              <a:off x="2029470" y="3098086"/>
              <a:ext cx="4815069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LOCATION: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Saraighat Gram Panchayat, Assam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village: </a:t>
              </a:r>
              <a:r>
                <a:rPr lang="en-I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Changsari</a:t>
              </a: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Jalah, </a:t>
              </a:r>
              <a:r>
                <a:rPr lang="en-I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Balaibeel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Width= approx. 2000m, Length = approx. 6000m</a:t>
              </a:r>
            </a:p>
            <a:p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781C1B-414D-5B26-B2A2-94DAC24E5EE3}"/>
              </a:ext>
            </a:extLst>
          </p:cNvPr>
          <p:cNvGrpSpPr/>
          <p:nvPr/>
        </p:nvGrpSpPr>
        <p:grpSpPr>
          <a:xfrm>
            <a:off x="3884539" y="2918753"/>
            <a:ext cx="6897342" cy="4125086"/>
            <a:chOff x="5606033" y="1828722"/>
            <a:chExt cx="11235797" cy="339906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C07CBB-508F-AA6A-EEFD-D55E28594248}"/>
                </a:ext>
              </a:extLst>
            </p:cNvPr>
            <p:cNvSpPr/>
            <p:nvPr/>
          </p:nvSpPr>
          <p:spPr>
            <a:xfrm>
              <a:off x="5606033" y="1870008"/>
              <a:ext cx="5588560" cy="3283302"/>
            </a:xfrm>
            <a:prstGeom prst="roundRect">
              <a:avLst>
                <a:gd name="adj" fmla="val 2740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9217C0-12CD-EDE6-2646-A71230FEFDDB}"/>
                </a:ext>
              </a:extLst>
            </p:cNvPr>
            <p:cNvSpPr txBox="1"/>
            <p:nvPr/>
          </p:nvSpPr>
          <p:spPr>
            <a:xfrm>
              <a:off x="6373867" y="2180794"/>
              <a:ext cx="395854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UTILITIES: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Schools 12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Hospitals 5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Railway 1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Banks 9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Postoffice</a:t>
              </a: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  <a:p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874126A-90EC-4B12-883E-C93861D59EE3}"/>
                </a:ext>
              </a:extLst>
            </p:cNvPr>
            <p:cNvSpPr/>
            <p:nvPr/>
          </p:nvSpPr>
          <p:spPr>
            <a:xfrm>
              <a:off x="11253270" y="1828722"/>
              <a:ext cx="5588560" cy="3283302"/>
            </a:xfrm>
            <a:prstGeom prst="roundRect">
              <a:avLst>
                <a:gd name="adj" fmla="val 27408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B7A61F7-E0A3-FE1B-AA9D-4C9EB81F51D2}"/>
              </a:ext>
            </a:extLst>
          </p:cNvPr>
          <p:cNvSpPr txBox="1"/>
          <p:nvPr/>
        </p:nvSpPr>
        <p:spPr>
          <a:xfrm>
            <a:off x="389850" y="2172450"/>
            <a:ext cx="7118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,SOURCE AND TOOLS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2DF9A-748D-E283-D746-3399BECD3C6A}"/>
              </a:ext>
            </a:extLst>
          </p:cNvPr>
          <p:cNvGrpSpPr/>
          <p:nvPr/>
        </p:nvGrpSpPr>
        <p:grpSpPr>
          <a:xfrm>
            <a:off x="10817901" y="2968859"/>
            <a:ext cx="3606022" cy="4074980"/>
            <a:chOff x="7496313" y="2680806"/>
            <a:chExt cx="5903088" cy="31251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5DC96AF-A38D-9CEB-35DD-C46D75740E3F}"/>
                </a:ext>
              </a:extLst>
            </p:cNvPr>
            <p:cNvSpPr/>
            <p:nvPr/>
          </p:nvSpPr>
          <p:spPr>
            <a:xfrm>
              <a:off x="7496313" y="2680806"/>
              <a:ext cx="5903088" cy="3125165"/>
            </a:xfrm>
            <a:prstGeom prst="roundRect">
              <a:avLst>
                <a:gd name="adj" fmla="val 27408"/>
              </a:avLst>
            </a:prstGeom>
            <a:solidFill>
              <a:srgbClr val="F2E7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§"/>
              </a:pPr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570D3D-1ECA-FB70-E406-E3ABFF67EE94}"/>
                </a:ext>
              </a:extLst>
            </p:cNvPr>
            <p:cNvSpPr txBox="1"/>
            <p:nvPr/>
          </p:nvSpPr>
          <p:spPr>
            <a:xfrm>
              <a:off x="7781830" y="3036218"/>
              <a:ext cx="492120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TOOLS: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QGIS software 3.40  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Weighted Multi-Criteria Analysis(WMCA)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Scale= 1:50000</a:t>
              </a:r>
            </a:p>
          </p:txBody>
        </p:sp>
      </p:grpSp>
      <p:sp>
        <p:nvSpPr>
          <p:cNvPr id="14" name="Flowchart: Stored Data 13">
            <a:extLst>
              <a:ext uri="{FF2B5EF4-FFF2-40B4-BE49-F238E27FC236}">
                <a16:creationId xmlns:a16="http://schemas.microsoft.com/office/drawing/2014/main" id="{C99FB066-B790-6486-2F58-99D918BA4659}"/>
              </a:ext>
            </a:extLst>
          </p:cNvPr>
          <p:cNvSpPr/>
          <p:nvPr/>
        </p:nvSpPr>
        <p:spPr>
          <a:xfrm>
            <a:off x="2440197" y="409295"/>
            <a:ext cx="2888684" cy="1473756"/>
          </a:xfrm>
          <a:prstGeom prst="flowChartOnlineStorag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4983335" y="678868"/>
            <a:ext cx="8034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996AD-3B40-4BB3-AA84-EC9B9935C636}"/>
              </a:ext>
            </a:extLst>
          </p:cNvPr>
          <p:cNvSpPr txBox="1"/>
          <p:nvPr/>
        </p:nvSpPr>
        <p:spPr>
          <a:xfrm>
            <a:off x="7474967" y="3346026"/>
            <a:ext cx="334293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Space-based Information Support for Decentralized Planning (SISDP)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Bhuvan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Panchayat portal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Bharatmaps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NIC portal,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LULC map temporal satellite data set (Sentinel-2 imagery on 22-10-2024 and 24-02-2025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89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948C80-3D09-463F-A157-37F3193FF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970533"/>
              </p:ext>
            </p:extLst>
          </p:nvPr>
        </p:nvGraphicFramePr>
        <p:xfrm>
          <a:off x="4069582" y="1456420"/>
          <a:ext cx="8731394" cy="5257072"/>
        </p:xfrm>
        <a:graphic>
          <a:graphicData uri="http://schemas.openxmlformats.org/drawingml/2006/table">
            <a:tbl>
              <a:tblPr/>
              <a:tblGrid>
                <a:gridCol w="3245618">
                  <a:extLst>
                    <a:ext uri="{9D8B030D-6E8A-4147-A177-3AD203B41FA5}">
                      <a16:colId xmlns:a16="http://schemas.microsoft.com/office/drawing/2014/main" val="529557609"/>
                    </a:ext>
                  </a:extLst>
                </a:gridCol>
                <a:gridCol w="5485776">
                  <a:extLst>
                    <a:ext uri="{9D8B030D-6E8A-4147-A177-3AD203B41FA5}">
                      <a16:colId xmlns:a16="http://schemas.microsoft.com/office/drawing/2014/main" val="1255074419"/>
                    </a:ext>
                  </a:extLst>
                </a:gridCol>
              </a:tblGrid>
              <a:tr h="37105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858258"/>
                  </a:ext>
                </a:extLst>
              </a:tr>
              <a:tr h="609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565004"/>
                  </a:ext>
                </a:extLst>
              </a:tr>
              <a:tr h="8481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031178"/>
                  </a:ext>
                </a:extLst>
              </a:tr>
              <a:tr h="8481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694353"/>
                  </a:ext>
                </a:extLst>
              </a:tr>
              <a:tr h="8481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492107"/>
                  </a:ext>
                </a:extLst>
              </a:tr>
              <a:tr h="8481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061799"/>
                  </a:ext>
                </a:extLst>
              </a:tr>
              <a:tr h="8481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9390" marR="99390" marT="66260" marB="6626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479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1A4744-021D-4A07-AE2C-F9811A948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712744"/>
              </p:ext>
            </p:extLst>
          </p:nvPr>
        </p:nvGraphicFramePr>
        <p:xfrm>
          <a:off x="1829424" y="1744282"/>
          <a:ext cx="10108018" cy="58256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64083">
                  <a:extLst>
                    <a:ext uri="{9D8B030D-6E8A-4147-A177-3AD203B41FA5}">
                      <a16:colId xmlns:a16="http://schemas.microsoft.com/office/drawing/2014/main" val="3171086794"/>
                    </a:ext>
                  </a:extLst>
                </a:gridCol>
                <a:gridCol w="6643935">
                  <a:extLst>
                    <a:ext uri="{9D8B030D-6E8A-4147-A177-3AD203B41FA5}">
                      <a16:colId xmlns:a16="http://schemas.microsoft.com/office/drawing/2014/main" val="2651288969"/>
                    </a:ext>
                  </a:extLst>
                </a:gridCol>
              </a:tblGrid>
              <a:tr h="460158"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QGIS Tool/Step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Purpose in Suitability Analysis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57591217"/>
                  </a:ext>
                </a:extLst>
              </a:tr>
              <a:tr h="679437"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Buffer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zones of inclusion or exclusion around.</a:t>
                      </a:r>
                      <a:endParaRPr lang="en-US" b="0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21894086"/>
                  </a:ext>
                </a:extLst>
              </a:tr>
              <a:tr h="982937"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Rasterize (Vector to Raster)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vector data (points, lines, polygons) into a grid/raster format, which is required for cell-by-cell calculations like Weighted Multi-Criteria Analysis.</a:t>
                      </a:r>
                      <a:endParaRPr lang="en-US" b="0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95489296"/>
                  </a:ext>
                </a:extLst>
              </a:tr>
              <a:tr h="964642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 No Data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 missing or ‘No Data' cells in a raster layer by filling them with a specific value (e.g., 0) to prevent calculation errors during subsequent overlays.</a:t>
                      </a:r>
                      <a:endParaRPr lang="en-US" b="0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47811534"/>
                  </a:ext>
                </a:extLst>
              </a:tr>
              <a:tr h="863027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LULC &amp; Warp/Reproject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spatial consistency by standardizing the Coordinate Reference System (CRS), resolution, and extent of all input layers (like Land Use/Land Cover) for accurate overlay.</a:t>
                      </a:r>
                      <a:endParaRPr lang="en-US" b="0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02859811"/>
                  </a:ext>
                </a:extLst>
              </a:tr>
              <a:tr h="863027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Multi-Criteria Analysis (Overlay)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core analysis: combines prepared, reclassified raster layers, multiplying each by its relative importance (weight), and summing them to create the final suitability map.</a:t>
                      </a:r>
                      <a:endParaRPr lang="en-US" b="0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44116975"/>
                  </a:ext>
                </a:extLst>
              </a:tr>
              <a:tr h="777085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 Layer (Clip Raster by Mask Layer)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Trims the final suitability raster to the precise boundary of the study area removing extraneous data and making results project-relevant.</a:t>
                      </a:r>
                      <a:endParaRPr lang="en-US" b="0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201085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F3D9BB-E9BF-49BF-82CB-A2E63517574E}"/>
              </a:ext>
            </a:extLst>
          </p:cNvPr>
          <p:cNvSpPr txBox="1"/>
          <p:nvPr/>
        </p:nvSpPr>
        <p:spPr>
          <a:xfrm>
            <a:off x="-602901" y="789269"/>
            <a:ext cx="6662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Tools</a:t>
            </a:r>
          </a:p>
        </p:txBody>
      </p:sp>
    </p:spTree>
    <p:extLst>
      <p:ext uri="{BB962C8B-B14F-4D97-AF65-F5344CB8AC3E}">
        <p14:creationId xmlns:p14="http://schemas.microsoft.com/office/powerpoint/2010/main" val="256634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985499"/>
            <a:ext cx="3385428" cy="1711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MAP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</a:p>
        </p:txBody>
      </p:sp>
      <p:sp>
        <p:nvSpPr>
          <p:cNvPr id="4" name="Text 1"/>
          <p:cNvSpPr/>
          <p:nvPr/>
        </p:nvSpPr>
        <p:spPr>
          <a:xfrm>
            <a:off x="874056" y="2939260"/>
            <a:ext cx="3969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A7654-553A-57B3-F989-C4D76C230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650" y="471949"/>
            <a:ext cx="10646750" cy="775765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DB4AD6-89FF-0670-597F-C009FBCF528C}"/>
              </a:ext>
            </a:extLst>
          </p:cNvPr>
          <p:cNvSpPr/>
          <p:nvPr/>
        </p:nvSpPr>
        <p:spPr>
          <a:xfrm>
            <a:off x="573114" y="2569580"/>
            <a:ext cx="2957164" cy="33103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731C1-5DB5-82B9-FA15-EA09FCC40053}"/>
              </a:ext>
            </a:extLst>
          </p:cNvPr>
          <p:cNvSpPr txBox="1"/>
          <p:nvPr/>
        </p:nvSpPr>
        <p:spPr>
          <a:xfrm>
            <a:off x="521028" y="3070598"/>
            <a:ext cx="3061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utilities shapefiles in QGIS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base map for the gram panchayat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1:50000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6377E59-62BA-212B-D248-F90CE34AF593}"/>
              </a:ext>
            </a:extLst>
          </p:cNvPr>
          <p:cNvSpPr/>
          <p:nvPr/>
        </p:nvSpPr>
        <p:spPr>
          <a:xfrm>
            <a:off x="3634451" y="3981691"/>
            <a:ext cx="937549" cy="38196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9DAE40-800C-6964-7B01-C6663169275B}"/>
              </a:ext>
            </a:extLst>
          </p:cNvPr>
          <p:cNvSpPr/>
          <p:nvPr/>
        </p:nvSpPr>
        <p:spPr>
          <a:xfrm>
            <a:off x="0" y="3067291"/>
            <a:ext cx="4074289" cy="15278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272173" y="601871"/>
            <a:ext cx="465864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91150" y="3249921"/>
            <a:ext cx="3883139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LULC band and analyze the Land Use Land Cover classifications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B8C0D-2901-71DA-AC8A-7C2CD3846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850" y="601872"/>
            <a:ext cx="10746550" cy="75930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9F98B7-36B4-2C62-DBF0-88948CC8F9C1}"/>
              </a:ext>
            </a:extLst>
          </p:cNvPr>
          <p:cNvSpPr txBox="1"/>
          <p:nvPr/>
        </p:nvSpPr>
        <p:spPr>
          <a:xfrm>
            <a:off x="457367" y="891249"/>
            <a:ext cx="4079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LULC Analysis</a:t>
            </a: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67D0CCF-4669-81DE-6C60-EFB521F1F4C7}"/>
              </a:ext>
            </a:extLst>
          </p:cNvPr>
          <p:cNvSpPr/>
          <p:nvPr/>
        </p:nvSpPr>
        <p:spPr>
          <a:xfrm rot="1450979">
            <a:off x="1116279" y="5657433"/>
            <a:ext cx="3588258" cy="1390342"/>
          </a:xfrm>
          <a:prstGeom prst="curvedUpArrow">
            <a:avLst>
              <a:gd name="adj1" fmla="val 25000"/>
              <a:gd name="adj2" fmla="val 48483"/>
              <a:gd name="adj3" fmla="val 3901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C664ED-7EB9-8D3A-7B42-F0BC5AD57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7631"/>
            <a:ext cx="8935656" cy="6318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312D1C-7EC3-1E86-D230-8CE5588DEDB0}"/>
              </a:ext>
            </a:extLst>
          </p:cNvPr>
          <p:cNvSpPr/>
          <p:nvPr/>
        </p:nvSpPr>
        <p:spPr>
          <a:xfrm>
            <a:off x="12627980" y="7569843"/>
            <a:ext cx="1880718" cy="555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088DB-DDDC-0098-6769-422DD2002DBA}"/>
              </a:ext>
            </a:extLst>
          </p:cNvPr>
          <p:cNvSpPr txBox="1"/>
          <p:nvPr/>
        </p:nvSpPr>
        <p:spPr>
          <a:xfrm>
            <a:off x="8935656" y="1215342"/>
            <a:ext cx="4317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BUFFER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573AE9-7BFB-4BE6-A613-DF85A2E32950}"/>
              </a:ext>
            </a:extLst>
          </p:cNvPr>
          <p:cNvSpPr/>
          <p:nvPr/>
        </p:nvSpPr>
        <p:spPr>
          <a:xfrm>
            <a:off x="8654237" y="2350567"/>
            <a:ext cx="4213185" cy="3349956"/>
          </a:xfrm>
          <a:prstGeom prst="roundRect">
            <a:avLst/>
          </a:prstGeom>
          <a:solidFill>
            <a:srgbClr val="B6F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C808F-CFB1-F5A8-1501-C4E5F4F4DD54}"/>
              </a:ext>
            </a:extLst>
          </p:cNvPr>
          <p:cNvSpPr txBox="1"/>
          <p:nvPr/>
        </p:nvSpPr>
        <p:spPr>
          <a:xfrm>
            <a:off x="9039828" y="2222339"/>
            <a:ext cx="3692324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500 meter buffer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Avoidance Constraint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To minimize noise, vibration, and safety hazards, making areas within the buffer unsuitable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65F5D-DEC8-A01C-D1BD-14F05E1E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A3DD7C-D180-1A35-5EE4-E8336FE8499C}"/>
              </a:ext>
            </a:extLst>
          </p:cNvPr>
          <p:cNvSpPr/>
          <p:nvPr/>
        </p:nvSpPr>
        <p:spPr>
          <a:xfrm>
            <a:off x="12627980" y="7569843"/>
            <a:ext cx="1880718" cy="555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04421-82C0-D858-6D3F-3DECB8362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940" y="948090"/>
            <a:ext cx="8660085" cy="61240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B03AD0-4286-A55D-B8DF-A98FEB56E040}"/>
              </a:ext>
            </a:extLst>
          </p:cNvPr>
          <p:cNvSpPr txBox="1"/>
          <p:nvPr/>
        </p:nvSpPr>
        <p:spPr>
          <a:xfrm>
            <a:off x="532435" y="1169043"/>
            <a:ext cx="461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BUFFER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DDFC4E-8097-4589-9C82-39D4D1B63987}"/>
              </a:ext>
            </a:extLst>
          </p:cNvPr>
          <p:cNvSpPr/>
          <p:nvPr/>
        </p:nvSpPr>
        <p:spPr>
          <a:xfrm>
            <a:off x="442126" y="2510009"/>
            <a:ext cx="3516415" cy="3426488"/>
          </a:xfrm>
          <a:prstGeom prst="roundRect">
            <a:avLst/>
          </a:prstGeom>
          <a:solidFill>
            <a:srgbClr val="DBF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E22BF-C877-1253-E05F-6C34931B76D3}"/>
              </a:ext>
            </a:extLst>
          </p:cNvPr>
          <p:cNvSpPr txBox="1"/>
          <p:nvPr/>
        </p:nvSpPr>
        <p:spPr>
          <a:xfrm>
            <a:off x="532435" y="2453833"/>
            <a:ext cx="3611862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300 meter buffer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Avoidance Constraint: To prevent construction in flood-prone areas and preserve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riverbank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zones.</a:t>
            </a:r>
          </a:p>
        </p:txBody>
      </p:sp>
    </p:spTree>
    <p:extLst>
      <p:ext uri="{BB962C8B-B14F-4D97-AF65-F5344CB8AC3E}">
        <p14:creationId xmlns:p14="http://schemas.microsoft.com/office/powerpoint/2010/main" val="60550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8947229" y="2592729"/>
            <a:ext cx="4924861" cy="3705687"/>
          </a:xfrm>
          <a:prstGeom prst="roundRect">
            <a:avLst>
              <a:gd name="adj" fmla="val 15411"/>
            </a:avLst>
          </a:prstGeom>
          <a:solidFill>
            <a:srgbClr val="EAECBC"/>
          </a:solidFill>
          <a:ln w="762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68904" y="584727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Research Lab</a:t>
            </a:r>
            <a:endParaRPr 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04E4A1-D4BB-A2D6-E89B-65391A79F759}"/>
              </a:ext>
            </a:extLst>
          </p:cNvPr>
          <p:cNvSpPr/>
          <p:nvPr/>
        </p:nvSpPr>
        <p:spPr>
          <a:xfrm>
            <a:off x="12627980" y="7569843"/>
            <a:ext cx="1880718" cy="555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0EAED1-70E1-AA7D-6BD7-D1F57AD29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16" y="978575"/>
            <a:ext cx="8424450" cy="5957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FCC57A-264F-8FE0-9972-A5AB5E3FD8FD}"/>
              </a:ext>
            </a:extLst>
          </p:cNvPr>
          <p:cNvSpPr txBox="1"/>
          <p:nvPr/>
        </p:nvSpPr>
        <p:spPr>
          <a:xfrm>
            <a:off x="9319617" y="1655180"/>
            <a:ext cx="3308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BUFFER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F0969-72DA-2FE4-77CF-F55FF942B4D5}"/>
              </a:ext>
            </a:extLst>
          </p:cNvPr>
          <p:cNvSpPr txBox="1"/>
          <p:nvPr/>
        </p:nvSpPr>
        <p:spPr>
          <a:xfrm>
            <a:off x="9319617" y="2882096"/>
            <a:ext cx="42194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100 meter buffer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Proximity Requirement: To ensure high accessibility for patients, ambulances, and staff.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8BF907-B86C-7821-D6D4-EF2B21ED2C73}"/>
              </a:ext>
            </a:extLst>
          </p:cNvPr>
          <p:cNvSpPr/>
          <p:nvPr/>
        </p:nvSpPr>
        <p:spPr>
          <a:xfrm>
            <a:off x="12627980" y="7569843"/>
            <a:ext cx="1880718" cy="555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15A61D-5CCB-D2AF-F3F1-1AB51BF6E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952"/>
            <a:ext cx="9697986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C685E4-50C5-E54A-A85A-F3B5E7DCAA2C}"/>
              </a:ext>
            </a:extLst>
          </p:cNvPr>
          <p:cNvSpPr txBox="1"/>
          <p:nvPr/>
        </p:nvSpPr>
        <p:spPr>
          <a:xfrm>
            <a:off x="9617764" y="1108876"/>
            <a:ext cx="4085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BUFFER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CE045-A7E8-1737-FAEF-767C71A7296A}"/>
              </a:ext>
            </a:extLst>
          </p:cNvPr>
          <p:cNvSpPr/>
          <p:nvPr/>
        </p:nvSpPr>
        <p:spPr>
          <a:xfrm>
            <a:off x="9363920" y="2164465"/>
            <a:ext cx="4259484" cy="3333136"/>
          </a:xfrm>
          <a:prstGeom prst="roundRect">
            <a:avLst/>
          </a:prstGeom>
          <a:solidFill>
            <a:srgbClr val="D0F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14635-AE93-A0B5-DF28-F41F5EE492D6}"/>
              </a:ext>
            </a:extLst>
          </p:cNvPr>
          <p:cNvSpPr txBox="1"/>
          <p:nvPr/>
        </p:nvSpPr>
        <p:spPr>
          <a:xfrm>
            <a:off x="9363920" y="2164465"/>
            <a:ext cx="42594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500 meter buffer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Avoidance Constraint: To reduce noise and traffic congestion in educational zones.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2A179D-093A-B8C5-3174-8F01081162BA}"/>
              </a:ext>
            </a:extLst>
          </p:cNvPr>
          <p:cNvSpPr/>
          <p:nvPr/>
        </p:nvSpPr>
        <p:spPr>
          <a:xfrm>
            <a:off x="680225" y="2430965"/>
            <a:ext cx="3611556" cy="4502398"/>
          </a:xfrm>
          <a:prstGeom prst="roundRect">
            <a:avLst/>
          </a:prstGeom>
          <a:solidFill>
            <a:srgbClr val="F1D2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E2467-691D-CECF-AF0B-E259D84CE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106" y="669073"/>
            <a:ext cx="9745294" cy="6891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BA6EF6-24B9-907B-6373-17D193C69330}"/>
              </a:ext>
            </a:extLst>
          </p:cNvPr>
          <p:cNvSpPr txBox="1"/>
          <p:nvPr/>
        </p:nvSpPr>
        <p:spPr>
          <a:xfrm>
            <a:off x="680226" y="2430965"/>
            <a:ext cx="36115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2000 meter buffer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Avoidance Constraint: To ensure the new hospital serves an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unserved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or underserved area (minimizing overlap with existing service areas).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A4B6F3-8D18-C5BB-6E08-504F4281A8E8}"/>
              </a:ext>
            </a:extLst>
          </p:cNvPr>
          <p:cNvSpPr txBox="1"/>
          <p:nvPr/>
        </p:nvSpPr>
        <p:spPr>
          <a:xfrm>
            <a:off x="680225" y="1050910"/>
            <a:ext cx="45843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HOSPITAL BUFFER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EE44A-372B-4B2C-A86B-CD824D8C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8933-BF62-4123-ABE7-724CFF875EAD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464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3866" y="581186"/>
            <a:ext cx="5374862" cy="814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RASTERIZE (Vector to Raster)</a:t>
            </a:r>
          </a:p>
        </p:txBody>
      </p:sp>
      <p:sp>
        <p:nvSpPr>
          <p:cNvPr id="3" name="Text 1"/>
          <p:cNvSpPr/>
          <p:nvPr/>
        </p:nvSpPr>
        <p:spPr>
          <a:xfrm>
            <a:off x="758309" y="2805470"/>
            <a:ext cx="13113782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120" y="3282284"/>
            <a:ext cx="2862038" cy="2862038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7025" y="3282284"/>
            <a:ext cx="2488049" cy="24880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AC0CA2-CE09-C61F-865D-6EC4DDDE6F94}"/>
              </a:ext>
            </a:extLst>
          </p:cNvPr>
          <p:cNvSpPr/>
          <p:nvPr/>
        </p:nvSpPr>
        <p:spPr>
          <a:xfrm>
            <a:off x="12627980" y="7569843"/>
            <a:ext cx="1880718" cy="555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33B76-E400-C0A7-3BD3-CF63C1868D30}"/>
              </a:ext>
            </a:extLst>
          </p:cNvPr>
          <p:cNvSpPr txBox="1"/>
          <p:nvPr/>
        </p:nvSpPr>
        <p:spPr>
          <a:xfrm>
            <a:off x="1253860" y="6545766"/>
            <a:ext cx="1522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Railway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FC821F-78C8-5C56-5F26-BCE933D327B2}"/>
              </a:ext>
            </a:extLst>
          </p:cNvPr>
          <p:cNvSpPr txBox="1"/>
          <p:nvPr/>
        </p:nvSpPr>
        <p:spPr>
          <a:xfrm>
            <a:off x="4092498" y="6534615"/>
            <a:ext cx="124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(b)Channel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34AF80-A24A-D9A3-AE85-53AD6E526FC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1" r="27622"/>
          <a:stretch>
            <a:fillRect/>
          </a:stretch>
        </p:blipFill>
        <p:spPr>
          <a:xfrm>
            <a:off x="3145848" y="3437681"/>
            <a:ext cx="2697392" cy="28354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2C21AC-F684-8D6C-B570-8D7EE7D1D6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2" r="26445"/>
          <a:stretch>
            <a:fillRect/>
          </a:stretch>
        </p:blipFill>
        <p:spPr>
          <a:xfrm>
            <a:off x="5843240" y="3437681"/>
            <a:ext cx="2453269" cy="27963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C5286C-BE8E-EEC0-DE15-373CF40F7D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6" r="13957"/>
          <a:stretch>
            <a:fillRect/>
          </a:stretch>
        </p:blipFill>
        <p:spPr>
          <a:xfrm>
            <a:off x="460084" y="3464124"/>
            <a:ext cx="2685764" cy="29413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74CEE1-3B36-8C5C-389E-8281DDA60C5B}"/>
              </a:ext>
            </a:extLst>
          </p:cNvPr>
          <p:cNvSpPr txBox="1"/>
          <p:nvPr/>
        </p:nvSpPr>
        <p:spPr>
          <a:xfrm flipH="1">
            <a:off x="6942370" y="6545766"/>
            <a:ext cx="114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Road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FC6D9B-A49C-A33B-0070-F7FBAD5B1F87}"/>
              </a:ext>
            </a:extLst>
          </p:cNvPr>
          <p:cNvSpPr txBox="1"/>
          <p:nvPr/>
        </p:nvSpPr>
        <p:spPr>
          <a:xfrm>
            <a:off x="9556595" y="6545766"/>
            <a:ext cx="127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School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C63CE3-B8D0-E972-B3A3-57B3005CB8BC}"/>
              </a:ext>
            </a:extLst>
          </p:cNvPr>
          <p:cNvSpPr txBox="1"/>
          <p:nvPr/>
        </p:nvSpPr>
        <p:spPr>
          <a:xfrm>
            <a:off x="11998711" y="6545766"/>
            <a:ext cx="136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Hospital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308" y="1527958"/>
            <a:ext cx="11600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Prepare data for the Weighted Multi-Criteria Overlay.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 vector buffer layers must be converted to raster format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conversion creates a grid of cells (pixels)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cell is assigned a simple pixel value (1 for inside the buffer, 0 for outside) representing the criterion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50558"/>
            <a:ext cx="7754422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15864" r="7649"/>
          <a:stretch>
            <a:fillRect/>
          </a:stretch>
        </p:blipFill>
        <p:spPr>
          <a:xfrm>
            <a:off x="5843239" y="2463996"/>
            <a:ext cx="3093767" cy="279628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12522" r="12740"/>
          <a:stretch>
            <a:fillRect/>
          </a:stretch>
        </p:blipFill>
        <p:spPr>
          <a:xfrm>
            <a:off x="3021980" y="2463996"/>
            <a:ext cx="2994800" cy="290379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15480" r="13378"/>
          <a:stretch>
            <a:fillRect/>
          </a:stretch>
        </p:blipFill>
        <p:spPr>
          <a:xfrm>
            <a:off x="8809463" y="2463996"/>
            <a:ext cx="3062368" cy="290379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l="19963" r="16895"/>
          <a:stretch>
            <a:fillRect/>
          </a:stretch>
        </p:blipFill>
        <p:spPr>
          <a:xfrm>
            <a:off x="11675326" y="2463996"/>
            <a:ext cx="2570991" cy="27101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6312A2-9F3C-332A-27BC-09B11819552A}"/>
              </a:ext>
            </a:extLst>
          </p:cNvPr>
          <p:cNvSpPr/>
          <p:nvPr/>
        </p:nvSpPr>
        <p:spPr>
          <a:xfrm>
            <a:off x="12627980" y="7569843"/>
            <a:ext cx="1880718" cy="555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03542-6C3C-30B7-ABC9-488D6C471C5C}"/>
              </a:ext>
            </a:extLst>
          </p:cNvPr>
          <p:cNvSpPr txBox="1"/>
          <p:nvPr/>
        </p:nvSpPr>
        <p:spPr>
          <a:xfrm>
            <a:off x="1232907" y="650558"/>
            <a:ext cx="4783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RASTER FILL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3D095-EE3F-FB96-88ED-21316CE8C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4518"/>
          <a:stretch>
            <a:fillRect/>
          </a:stretch>
        </p:blipFill>
        <p:spPr>
          <a:xfrm>
            <a:off x="211873" y="2378835"/>
            <a:ext cx="3111190" cy="29889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5FFA7C1-47F4-9188-5BEB-4AFC3D7C4AE2}"/>
              </a:ext>
            </a:extLst>
          </p:cNvPr>
          <p:cNvSpPr txBox="1"/>
          <p:nvPr/>
        </p:nvSpPr>
        <p:spPr>
          <a:xfrm>
            <a:off x="947853" y="5591666"/>
            <a:ext cx="1315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Railway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15772-F1C9-A1D7-8402-2A727E6D9B72}"/>
              </a:ext>
            </a:extLst>
          </p:cNvPr>
          <p:cNvSpPr txBox="1"/>
          <p:nvPr/>
        </p:nvSpPr>
        <p:spPr>
          <a:xfrm>
            <a:off x="4148254" y="5664820"/>
            <a:ext cx="124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(b)Channel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0C3CA-B47B-E620-B5C5-FBB15E8244A6}"/>
              </a:ext>
            </a:extLst>
          </p:cNvPr>
          <p:cNvSpPr txBox="1"/>
          <p:nvPr/>
        </p:nvSpPr>
        <p:spPr>
          <a:xfrm flipH="1">
            <a:off x="6998126" y="5675971"/>
            <a:ext cx="114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Road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EB7A6-F4E7-DFA0-AEEB-F13DCD00E9D2}"/>
              </a:ext>
            </a:extLst>
          </p:cNvPr>
          <p:cNvSpPr txBox="1"/>
          <p:nvPr/>
        </p:nvSpPr>
        <p:spPr>
          <a:xfrm>
            <a:off x="9612351" y="5675971"/>
            <a:ext cx="127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School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0DC371-5FE1-C390-7B8E-319A889160FF}"/>
              </a:ext>
            </a:extLst>
          </p:cNvPr>
          <p:cNvSpPr txBox="1"/>
          <p:nvPr/>
        </p:nvSpPr>
        <p:spPr>
          <a:xfrm>
            <a:off x="12467063" y="5675971"/>
            <a:ext cx="167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(e) Hospital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575" y="1579394"/>
            <a:ext cx="142968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Explicitly fill the ‘No Data' areas with a specific value (e.g., 0).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raster fi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raster fi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raster fi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R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501" y="2716119"/>
            <a:ext cx="6717899" cy="4973647"/>
          </a:xfrm>
          <a:prstGeom prst="rect">
            <a:avLst/>
          </a:prstGeom>
        </p:spPr>
      </p:pic>
      <p:pic>
        <p:nvPicPr>
          <p:cNvPr id="7" name="Picture 6" descr="RASTER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28" y="2716119"/>
            <a:ext cx="6515383" cy="47556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9448" y="550814"/>
            <a:ext cx="921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itchFamily="18" charset="0"/>
              </a:rPr>
              <a:t>RASTER REPROJECT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574" y="1135589"/>
            <a:ext cx="899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Raster layers (for LULC) were ensured to have the same Cell Size, Extent, and Coordinate Reference System (CRS) to align perfectly for the final calculation.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62980" y="7505100"/>
            <a:ext cx="40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Raster Fill for LULC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0980" y="7505100"/>
            <a:ext cx="408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Raster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Reprojected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for LULC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75342" y="7689766"/>
            <a:ext cx="1755058" cy="539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5C0A9B-11FA-43A3-8A1E-8EC70BC6A2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83" r="17850"/>
          <a:stretch/>
        </p:blipFill>
        <p:spPr>
          <a:xfrm>
            <a:off x="6752492" y="1801144"/>
            <a:ext cx="6340511" cy="5591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51F220-3532-4242-AF6C-3219959AC4A0}"/>
              </a:ext>
            </a:extLst>
          </p:cNvPr>
          <p:cNvSpPr/>
          <p:nvPr/>
        </p:nvSpPr>
        <p:spPr>
          <a:xfrm>
            <a:off x="12821697" y="7616651"/>
            <a:ext cx="1718268" cy="532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6DE40-BA7E-474A-A93E-84ECCD5C594E}"/>
              </a:ext>
            </a:extLst>
          </p:cNvPr>
          <p:cNvSpPr txBox="1"/>
          <p:nvPr/>
        </p:nvSpPr>
        <p:spPr>
          <a:xfrm>
            <a:off x="281353" y="914753"/>
            <a:ext cx="63706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Multi-Criteria Analysis - WMCA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53D3A-AA18-494E-89DF-9267487F0242}"/>
              </a:ext>
            </a:extLst>
          </p:cNvPr>
          <p:cNvSpPr txBox="1"/>
          <p:nvPr/>
        </p:nvSpPr>
        <p:spPr>
          <a:xfrm>
            <a:off x="512465" y="2090057"/>
            <a:ext cx="5225143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all the prepared, reclassified raster criteria layers based on their relative importance (weight).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is multiplied by its weight, and the resulting layers are summed up to produce a final suitability map, where higher values indicate a more suitable location.</a:t>
            </a:r>
          </a:p>
        </p:txBody>
      </p:sp>
    </p:spTree>
    <p:extLst>
      <p:ext uri="{BB962C8B-B14F-4D97-AF65-F5344CB8AC3E}">
        <p14:creationId xmlns:p14="http://schemas.microsoft.com/office/powerpoint/2010/main" val="317481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016CAE-1159-28AD-DB07-F32D141B9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544" y="1212257"/>
            <a:ext cx="8969215" cy="6337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D0829D-5FAD-5997-CF3A-CADEF7589B04}"/>
              </a:ext>
            </a:extLst>
          </p:cNvPr>
          <p:cNvSpPr txBox="1"/>
          <p:nvPr/>
        </p:nvSpPr>
        <p:spPr>
          <a:xfrm>
            <a:off x="975731" y="1666664"/>
            <a:ext cx="3836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AREA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0894-1765-4B8B-E356-D5CB3CDE9EE2}"/>
              </a:ext>
            </a:extLst>
          </p:cNvPr>
          <p:cNvSpPr txBox="1"/>
          <p:nvPr/>
        </p:nvSpPr>
        <p:spPr>
          <a:xfrm>
            <a:off x="1170878" y="2977376"/>
            <a:ext cx="3445727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Clip by mask layer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final raster was clipped using the Saraighat Gram Panchayat boundary as a mask layer to show results only within the study area. 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BF580E3-28AD-4DF2-98BA-13C35003A7A6}"/>
              </a:ext>
            </a:extLst>
          </p:cNvPr>
          <p:cNvGrpSpPr/>
          <p:nvPr/>
        </p:nvGrpSpPr>
        <p:grpSpPr>
          <a:xfrm>
            <a:off x="10376401" y="2591976"/>
            <a:ext cx="2931230" cy="646331"/>
            <a:chOff x="1170878" y="6100572"/>
            <a:chExt cx="3640873" cy="64633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FB77A9B-7810-4BDE-9621-31F56212C586}"/>
                </a:ext>
              </a:extLst>
            </p:cNvPr>
            <p:cNvSpPr/>
            <p:nvPr/>
          </p:nvSpPr>
          <p:spPr>
            <a:xfrm>
              <a:off x="1170878" y="6421275"/>
              <a:ext cx="286438" cy="283322"/>
            </a:xfrm>
            <a:prstGeom prst="ellipse">
              <a:avLst/>
            </a:prstGeom>
            <a:solidFill>
              <a:srgbClr val="B856D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Callout: Line 5">
              <a:extLst>
                <a:ext uri="{FF2B5EF4-FFF2-40B4-BE49-F238E27FC236}">
                  <a16:creationId xmlns:a16="http://schemas.microsoft.com/office/drawing/2014/main" id="{21A19EBB-991B-412C-862C-F356F1ED437F}"/>
                </a:ext>
              </a:extLst>
            </p:cNvPr>
            <p:cNvSpPr/>
            <p:nvPr/>
          </p:nvSpPr>
          <p:spPr>
            <a:xfrm>
              <a:off x="2443051" y="6156924"/>
              <a:ext cx="2368700" cy="524081"/>
            </a:xfrm>
            <a:prstGeom prst="borderCallout1">
              <a:avLst>
                <a:gd name="adj1" fmla="val 60792"/>
                <a:gd name="adj2" fmla="val -1356"/>
                <a:gd name="adj3" fmla="val 76764"/>
                <a:gd name="adj4" fmla="val -40193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0FD204-805B-4F49-983F-A275062371F3}"/>
                </a:ext>
              </a:extLst>
            </p:cNvPr>
            <p:cNvSpPr txBox="1"/>
            <p:nvPr/>
          </p:nvSpPr>
          <p:spPr>
            <a:xfrm>
              <a:off x="2711654" y="6100572"/>
              <a:ext cx="18314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Indicates suitable area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4F891-B351-6DC7-5C21-9C94A541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8933-BF62-4123-ABE7-724CFF875EAD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065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00AED4-2C12-7A2F-DA9E-22230A43FEFE}"/>
              </a:ext>
            </a:extLst>
          </p:cNvPr>
          <p:cNvSpPr/>
          <p:nvPr/>
        </p:nvSpPr>
        <p:spPr>
          <a:xfrm>
            <a:off x="12627980" y="7569843"/>
            <a:ext cx="1880718" cy="555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E0FA0-A4B7-73A7-E928-DF9B62E5C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418" y="979473"/>
            <a:ext cx="970628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6FC1AE-E5C2-19CB-15DB-8B00F73EE28B}"/>
              </a:ext>
            </a:extLst>
          </p:cNvPr>
          <p:cNvSpPr txBox="1"/>
          <p:nvPr/>
        </p:nvSpPr>
        <p:spPr>
          <a:xfrm>
            <a:off x="395009" y="2518036"/>
            <a:ext cx="4658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LAYOUT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194" y="3384236"/>
            <a:ext cx="4085303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suitable areas were overlaid with the utility layers for visual analysis and site identification.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9EEF0B-D1AF-49C6-B767-97A653FF03EE}"/>
              </a:ext>
            </a:extLst>
          </p:cNvPr>
          <p:cNvSpPr txBox="1"/>
          <p:nvPr/>
        </p:nvSpPr>
        <p:spPr>
          <a:xfrm>
            <a:off x="516194" y="800555"/>
            <a:ext cx="3294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53D738-704D-4C8B-B0F7-632C80EAE1A7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croll: Vertical 7">
            <a:extLst>
              <a:ext uri="{FF2B5EF4-FFF2-40B4-BE49-F238E27FC236}">
                <a16:creationId xmlns:a16="http://schemas.microsoft.com/office/drawing/2014/main" id="{2008687C-F4B9-4B5E-902C-2AC14CD6C779}"/>
              </a:ext>
            </a:extLst>
          </p:cNvPr>
          <p:cNvSpPr/>
          <p:nvPr/>
        </p:nvSpPr>
        <p:spPr>
          <a:xfrm>
            <a:off x="669512" y="559425"/>
            <a:ext cx="10622777" cy="6403088"/>
          </a:xfrm>
          <a:prstGeom prst="verticalScroll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8A007-4409-C378-60DA-CB8672A7C13D}"/>
              </a:ext>
            </a:extLst>
          </p:cNvPr>
          <p:cNvSpPr txBox="1"/>
          <p:nvPr/>
        </p:nvSpPr>
        <p:spPr>
          <a:xfrm>
            <a:off x="1841524" y="1463960"/>
            <a:ext cx="11675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5609" y="2612242"/>
            <a:ext cx="871685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analysis successfully identified multiple suitable land parcels (indicated by purple on the map) that meet all defined criteria and constraints.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These sites are far from existing hospitals, close to the road network, and avoid major constraint areas like waterways and railways.</a:t>
            </a:r>
          </a:p>
          <a:p>
            <a:pPr lvl="1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best proposed site is located.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017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61CE34-933D-4FCD-A5B5-57CF091EEDC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020529" y="2698955"/>
            <a:ext cx="97191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Algerian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Words>907</Words>
  <Application>Microsoft Office PowerPoint</Application>
  <PresentationFormat>Custom</PresentationFormat>
  <Paragraphs>128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Sora Semi Bold</vt:lpstr>
      <vt:lpstr>Times New Roman</vt:lpstr>
      <vt:lpstr>Wingdings</vt:lpstr>
      <vt:lpstr>Arial</vt:lpstr>
      <vt:lpstr>Aptos</vt:lpstr>
      <vt:lpstr>Sora Light</vt:lpstr>
      <vt:lpstr>Algerian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CHANSA RAINGAM</dc:creator>
  <cp:lastModifiedBy>Susan Eldhose</cp:lastModifiedBy>
  <cp:revision>26</cp:revision>
  <dcterms:created xsi:type="dcterms:W3CDTF">2025-11-03T17:45:34Z</dcterms:created>
  <dcterms:modified xsi:type="dcterms:W3CDTF">2025-11-04T10:46:51Z</dcterms:modified>
</cp:coreProperties>
</file>